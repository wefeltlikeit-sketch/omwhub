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22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28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HEDIS OMW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CLOSING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051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TO CLOSE THE CARE GAP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Osteoporosis Management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Women Who Had a Fracture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219456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1089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focus finite outreach capacity so more women get BMD testing or osteoporosis treatment within 180 days of a qualifying fracture.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 ·  Stars  ·  Care Management  ·  Clinical Rules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HEDIS · Medicare Stars  |  Internal strategy draft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decide: which gap-closing strategies deserve focus.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22960"/>
            <a:ext cx="73152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24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024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we must close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OMW counts and why national rates stay 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22960"/>
            <a:ext cx="73152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24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23560" y="1024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members fail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operational failure modes that strategy must attack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965960"/>
            <a:ext cx="73152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167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hierarchy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— FLS, multi-component QI, and what doesn’t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9659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965960"/>
            <a:ext cx="73152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167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23560" y="2167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portfolio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strategies to prioritize with limited capacity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108960"/>
            <a:ext cx="73152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310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3310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Tiers, barrier matching, and the 180-day rhythm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1089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108960"/>
            <a:ext cx="73152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310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23560" y="3310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start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2356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sequencing and success metrics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 NCQA HEDIS OMW  |  Numerator = BMD or osteoporosis Rx within 180 days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 GAP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fracture is the signal. Six months is the deadline. Most women still miss care.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22960"/>
            <a:ext cx="26974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after index fracture to complete BMD or start therapy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822960"/>
            <a:ext cx="2697480" cy="73152"/>
          </a:xfrm>
          <a:prstGeom prst="rect">
            <a:avLst/>
          </a:prstGeom>
          <a:solidFill>
            <a:srgbClr val="C97B17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in 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national share receiving post-fracture testing or treatment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22960"/>
            <a:ext cx="26974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143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6459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BMD or Rx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measure — both are not required; evaluation alone counts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17520"/>
            <a:ext cx="73152" cy="1508760"/>
          </a:xfrm>
          <a:prstGeom prst="rect">
            <a:avLst/>
          </a:prstGeom>
          <a:solidFill>
            <a:srgbClr val="C97B1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implication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is not a rare-event quality measure — it is a large, addressable care-gap problem. Strategy should not try to “discover” whether outreach works; the literature is clear. Strategy should decide where finite coordinator and Stars capacity goes first, and which multi-component pathway each member receives inside the 180-day clock.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failure mode maps to a specific intervention lever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GAPS STAY OPEN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operational failure modes — not one generic “noncompliance.”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77724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868680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868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850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 after fracture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8503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ED/urgent-care wrist or vertebral fracture never handed to PCP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252728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1344168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1325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quietly expires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325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+ rehab consume 180 days, especially late intake fractures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1819656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discharge without plan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18013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recovery focus; therapy not started before discharge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203704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295144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295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22768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vertebral fractures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22768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Incidental imaging findings under-coded or not communicated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67919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2770632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2752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false positives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27523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Old/history fractures coded acute — wasted outreach unless claim corrected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15468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" y="3246120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" y="3227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care misread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3227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DXA &gt;24 mo or Rx &gt;12 mo no longer excludes; teams assume protected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630168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4360" y="3721608"/>
            <a:ext cx="256032" cy="256032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adherence barriers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0" y="3703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Transport, cost, bisphosphonate hesitancy convert orders to open gaps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 2018 FLS meta-analysis · Nayak 2018 multi-component QI (43 RCTs) · Roux 2013 PCP priming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EVIDENCE SAYS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debate single mailers. Bundle interventions — and staff a pathway.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22960"/>
            <a:ext cx="2743200" cy="45720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more of this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" y="1536192"/>
            <a:ext cx="146304" cy="146304"/>
          </a:xfrm>
          <a:prstGeom prst="ellipse">
            <a:avLst/>
          </a:prstGeom>
          <a:solidFill>
            <a:srgbClr val="2D9B6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Coordinator-led Fracture Liaison Service (FLS)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" y="2066544"/>
            <a:ext cx="146304" cy="146304"/>
          </a:xfrm>
          <a:prstGeom prst="ellipse">
            <a:avLst/>
          </a:prstGeom>
          <a:solidFill>
            <a:srgbClr val="2D9B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993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Multi-component QI (provider + patient + scheduling)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" y="2596896"/>
            <a:ext cx="146304" cy="146304"/>
          </a:xfrm>
          <a:prstGeom prst="ellipse">
            <a:avLst/>
          </a:prstGeom>
          <a:solidFill>
            <a:srgbClr val="2D9B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23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 priming after fracture (intensive &gt; minimal)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" y="3127248"/>
            <a:ext cx="146304" cy="146304"/>
          </a:xfrm>
          <a:prstGeom prst="ellipse">
            <a:avLst/>
          </a:prstGeom>
          <a:solidFill>
            <a:srgbClr val="2D9B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In-hospital therapy initiation for hip fracture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" y="3657600"/>
            <a:ext cx="146304" cy="146304"/>
          </a:xfrm>
          <a:prstGeom prst="ellipse">
            <a:avLst/>
          </a:prstGeom>
          <a:solidFill>
            <a:srgbClr val="2D9B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Pharmacist-led case finding from claims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82296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822960"/>
            <a:ext cx="27432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enablers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56432" y="1536192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37033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EHR/claims case-finding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56432" y="2066544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1993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on imaging for silent fractures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56432" y="2596896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2523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VFA to surface vertebral fractures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56432" y="3127248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Plan-level care coordination culture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56432" y="3657600"/>
            <a:ext cx="146304" cy="14630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3703320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models to rank who needs intensity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82296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822960"/>
            <a:ext cx="27432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rely on alone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36792" y="153619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patient mailers or one-off SMS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36792" y="206654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1993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alert without follow-through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36792" y="2596896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2523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gap lists with no owner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36792" y="3127248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3054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Fracture-risk score as outreach priority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36792" y="365760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“she already had a DXA”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HEDIS · Medicare Stars  |  Internal strategy draft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PORTFOLIO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strategies to resource — not twenty pilots.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9326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93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FLS-style pathway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987552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9875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coordinator owns testing + treatment through closure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1591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1572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Risk-tiered outreach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89120" y="164592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645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1572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Capacity-based tiers: intensive / structured / light-touch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139696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2249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22311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Barrier-matched tactics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0" y="2304288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2304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22311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action matches why the gap will stay open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798064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29077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28895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inpatient fast-track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389120" y="2962656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2962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Must-do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28895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therapy in hospital — override the score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456432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" y="3566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88720" y="3547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case finding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389120" y="3621024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0" y="3621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23560" y="35478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+ ADT + imaging NLP; equity by design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evidence base for post-fracture testing &amp; treatment initiation (Wu 2018)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1  ·  CORE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FLS-equivalent pathway: someone owns the member until the gap closes.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F2B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multi-component by default. Intensity varies — ownership does not.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1965960"/>
            <a:ext cx="685800" cy="68580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130552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qualifying fracture from claims, ADT, and imaging — not referral-only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06040" y="173736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965960"/>
            <a:ext cx="685800" cy="68580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13055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974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74320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coordinator schedules BMD, engages PCP, removes barriers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754880" y="173736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94960" y="1965960"/>
            <a:ext cx="685800" cy="68580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130552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463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89204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through to completed scan or filled/administered Rx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903720" y="1737360"/>
            <a:ext cx="201168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43800" y="1965960"/>
            <a:ext cx="685800" cy="68580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213055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04088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numerator event; feed outcomes back to ranking model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cut-points follow outreach capacity (top-K), not an abstract probability threshold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2  ·  CORE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Risk-tiered outreach: spend intensity where self-closure is least likely.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22960"/>
            <a:ext cx="109728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14300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143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960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/ FLS-equivalent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1234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predicted failure: no PCP, long DXA distance, high deprivation, OP/ED fracture with no follow-up path.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508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coordinator · active scheduling · provider engagement · barrier removal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965960"/>
            <a:ext cx="109728" cy="1051560"/>
          </a:xfrm>
          <a:prstGeom prst="rect">
            <a:avLst/>
          </a:prstGeom>
          <a:solidFill>
            <a:srgbClr val="C97B17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228600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C97B1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286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multi-component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2377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risk — still needs a bundle, not a single touch.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651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alert + member outreach + scheduling assist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08960"/>
            <a:ext cx="109728" cy="1051560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42900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2D9B6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29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Light-touch / monitor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11680" y="3520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to close (engaged, has PCP, already scheduled).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3794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reminder · passive monitoring · escalate at day ~90 if still open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design: high failure risk → more barrier removal, never less outreach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3  ·  CORE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lead tactic to the barrier — not a generic reminder.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822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barrier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822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intervention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1887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attributed PCP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18872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Assign/connect PCP; coordinator owns end-to-end scheduling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27632"/>
            <a:ext cx="8229600" cy="438912"/>
          </a:xfrm>
          <a:prstGeom prst="rect">
            <a:avLst/>
          </a:prstGeom>
          <a:solidFill>
            <a:srgbClr val="E8ED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6276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DXA distance / access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162763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DXA, telehealth, or pharmacy-based initiation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066544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06654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Inpatient hip fracture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06654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In-hospital treatment initiation before discharge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8229600" cy="438912"/>
          </a:xfrm>
          <a:prstGeom prst="rect">
            <a:avLst/>
          </a:prstGeom>
          <a:solidFill>
            <a:srgbClr val="E8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054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med adherence history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250545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Pharmacist counseling + simplified regimen + refills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4436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443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provider panel OMW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29443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sets, education, panel gap reports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solidFill>
            <a:srgbClr val="E8EDE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3832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vertebral fracture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3832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VFA / imaging review to confirm and prompt treatment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82219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221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deprivation / dual-eligible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382219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SDOH navigation, transport, prioritized coordinator time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Kuiper 2018 — in-hospital initiation markedly improved standard-of-care completion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4  ·  MUST-DO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/ inpatient fast-track: do not wait for a risk score.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0F2B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972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non-negotiable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fracture patients are the highest-risk group. The 180-day clock starts at discharge. Surgical recovery often crowds out osteoporosis planning. The admission itself is the best single chance to close the gap.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17720" y="82296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9326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tiering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00600" y="1207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qualifying hip fracture during admission routes to fast-track regardless of Model B score.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1719072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18288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Order-set / PDSA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21031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osteoporosis evaluation and treatment offer before discharge.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17720" y="2615184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0600" y="27249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off residual gaps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00600" y="2999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 closed inpatient, auto-enroll to Tier 1 outpatient FLS pathway day 0 post-discharge.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17720" y="3511296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00600" y="36210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00600" y="389534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% of hip episodes with in-hospital Rx or scheduled BMD before discharge.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Navarro 2011: continuous EMR screening improved rates and reduced disparities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5  ·  FOUNDATION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case finding — because manual referral entrenches inequity.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188720"/>
            <a:ext cx="594360" cy="59436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0759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+ pharmacy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087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scan for qualifying fractures and numerator events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8229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1188720"/>
            <a:ext cx="594360" cy="59436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3075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ADT enrichment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7607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when fracture is known — don’t wait for perfect claims lag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4231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2788920"/>
            <a:ext cx="594360" cy="59436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0779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Imaging / NLP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50876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silent vertebral fractures that never get a clear code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09160" y="24231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937760" y="2788920"/>
            <a:ext cx="594360" cy="594360"/>
          </a:xfrm>
          <a:prstGeom prst="ellipse">
            <a:avLst/>
          </a:prstGeom>
          <a:solidFill>
            <a:srgbClr val="E8EDE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90779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607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by design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76072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reach by race, dual status, rurality, deprivation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HEDIS · Medicare Stars  |  Internal strategy draft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RHYTHM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180-day clock like a program — with early leading indicators.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8288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score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606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ADT/claims → exclusions → tier + barrier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18288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1–60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hard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94560" y="23774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2606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BMD scheduled target; Tier 1 fully engaged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18288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388620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60–90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86200" y="23774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77640" y="2606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 initiation target; reopen stalled cases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18288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~90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23774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2606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Tier 3 → Tier 2; refresh prioritization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1828800"/>
            <a:ext cx="320040" cy="3200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726948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180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6948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loop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69480" y="23774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60920" y="2606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label → model training + provider rates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reduces thrash: foundation → must-do → core intensity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FOCUS FIRST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sequencing if capacity is limited.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22960"/>
            <a:ext cx="269748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932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bleed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hip inpatient fast-track (order set + discharge ownership)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continuous case-finding (claims + ADT crosswalk)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single-touch-only outreach as the default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82296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822960"/>
            <a:ext cx="2697480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932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1188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the pathway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18288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FLS-equivalent Tier 1 caseload &amp; SLAs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3-tier model with capacity-based cut points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3832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3320" y="3383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barrier → tactic playbook for coordinators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822960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822960"/>
            <a:ext cx="2697480" cy="77724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932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188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 ranking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63640" y="18288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failure-risk scores on prior OMW years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mid-window escalation automation (day 90)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3832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37960" y="3383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equity dashboards; rebalance intensive reach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Gap Closing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HEDIS · Medicare Stars  |  Internal strategy draft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800600"/>
            <a:ext cx="868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 ·  NEXT DECISIONS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the program on closure, speed, and equitable reach.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22960"/>
            <a:ext cx="9144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OMW rate overall and by subgroup (race, dual, rural, deprivation)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9144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precision · contact rate · days from episode → closure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8745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874520"/>
            <a:ext cx="9144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BMD scheduled by day 60 · medication initiated by day 90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8745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74520"/>
            <a:ext cx="9144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Intensive-pathway reach among historically failing groups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0F2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we need from this 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Confirm hip fast-track as mandatory  ·  2) Size Tier 1 coordinator capacity  ·  3) Adopt barrier-matched playbook as standard  ·  4) Sequence Phase A–C owners and dates  ·  5) Set equity + leading-indicator dashboards before go-live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OMW Gap Closing Strategy</dc:title>
  <dc:subject>HEDIS Osteoporosis Management — strategies to close care gaps</dc:subject>
  <dc:creator>OMW Quality Strategy</dc:creator>
  <cp:lastModifiedBy>OMW Quality Strategy</cp:lastModifiedBy>
  <cp:revision>1</cp:revision>
  <dcterms:created xsi:type="dcterms:W3CDTF">2026-07-26T17:18:48Z</dcterms:created>
  <dcterms:modified xsi:type="dcterms:W3CDTF">2026-07-26T17:18:48Z</dcterms:modified>
</cp:coreProperties>
</file>